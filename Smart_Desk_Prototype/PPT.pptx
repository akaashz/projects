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1" r:id="rId7"/>
    <p:sldId id="271" r:id="rId8"/>
    <p:sldId id="267" r:id="rId9"/>
    <p:sldId id="268" r:id="rId10"/>
    <p:sldId id="270" r:id="rId11"/>
    <p:sldId id="264" r:id="rId12"/>
    <p:sldId id="269" r:id="rId13"/>
    <p:sldId id="265" r:id="rId14"/>
    <p:sldId id="266" r:id="rId15"/>
  </p:sldIdLst>
  <p:sldSz cx="12192000" cy="6858000"/>
  <p:notesSz cx="7052945" cy="9309100"/>
  <p:embeddedFontLst>
    <p:embeddedFont>
      <p:font typeface="Calibri" panose="020F0502020204030204"/>
      <p:regular r:id="rId19"/>
    </p:embeddedFont>
    <p:embeddedFont>
      <p:font typeface="Century Gothic" panose="020B0502020202020204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85F90"/>
    <a:srgbClr val="F02CC6"/>
    <a:srgbClr val="0A14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55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56414" cy="46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75" tIns="46725" rIns="93475" bIns="467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95217" y="0"/>
            <a:ext cx="3056414" cy="46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75" tIns="46725" rIns="93475" bIns="467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33425" y="1163638"/>
            <a:ext cx="5586413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5327" y="4480004"/>
            <a:ext cx="5642610" cy="366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75" tIns="46725" rIns="93475" bIns="467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42030"/>
            <a:ext cx="3056414" cy="467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75" tIns="46725" rIns="93475" bIns="467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95217" y="8842030"/>
            <a:ext cx="3056414" cy="467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75" tIns="46725" rIns="93475" bIns="467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705327" y="4480004"/>
            <a:ext cx="5642610" cy="366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50" tIns="46700" rIns="93450" bIns="46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63638"/>
            <a:ext cx="5586413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705327" y="4480004"/>
            <a:ext cx="5642610" cy="366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75" tIns="46725" rIns="93475" bIns="46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63638"/>
            <a:ext cx="5586413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705327" y="4480004"/>
            <a:ext cx="5642610" cy="366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75" tIns="46725" rIns="93475" bIns="46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63638"/>
            <a:ext cx="5586413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>
            <a:spLocks noGrp="1"/>
          </p:cNvSpPr>
          <p:nvPr>
            <p:ph type="body" idx="1"/>
          </p:nvPr>
        </p:nvSpPr>
        <p:spPr>
          <a:xfrm>
            <a:off x="705327" y="4480004"/>
            <a:ext cx="5642610" cy="366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75" tIns="46725" rIns="93475" bIns="46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30" name="Google Shape;1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63638"/>
            <a:ext cx="5586413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>
            <a:spLocks noGrp="1"/>
          </p:cNvSpPr>
          <p:nvPr>
            <p:ph type="body" idx="1"/>
          </p:nvPr>
        </p:nvSpPr>
        <p:spPr>
          <a:xfrm>
            <a:off x="705327" y="4480004"/>
            <a:ext cx="5642610" cy="366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75" tIns="46725" rIns="93475" bIns="46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30" name="Google Shape;1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63638"/>
            <a:ext cx="5586413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>
            <a:spLocks noGrp="1"/>
          </p:cNvSpPr>
          <p:nvPr>
            <p:ph type="body" idx="1"/>
          </p:nvPr>
        </p:nvSpPr>
        <p:spPr>
          <a:xfrm>
            <a:off x="705327" y="4480004"/>
            <a:ext cx="5642610" cy="366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75" tIns="46725" rIns="93475" bIns="46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30" name="Google Shape;1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63638"/>
            <a:ext cx="5586413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>
            <a:spLocks noGrp="1"/>
          </p:cNvSpPr>
          <p:nvPr>
            <p:ph type="body" idx="1"/>
          </p:nvPr>
        </p:nvSpPr>
        <p:spPr>
          <a:xfrm>
            <a:off x="705327" y="4480004"/>
            <a:ext cx="5642610" cy="366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75" tIns="46725" rIns="93475" bIns="46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30" name="Google Shape;1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63638"/>
            <a:ext cx="5586413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>
            <a:spLocks noGrp="1"/>
          </p:cNvSpPr>
          <p:nvPr>
            <p:ph type="body" idx="1"/>
          </p:nvPr>
        </p:nvSpPr>
        <p:spPr>
          <a:xfrm>
            <a:off x="705327" y="4480004"/>
            <a:ext cx="5642610" cy="366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75" tIns="46725" rIns="93475" bIns="46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57" name="Google Shape;15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63638"/>
            <a:ext cx="5586413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>
            <a:spLocks noGrp="1"/>
          </p:cNvSpPr>
          <p:nvPr>
            <p:ph type="body" idx="1"/>
          </p:nvPr>
        </p:nvSpPr>
        <p:spPr>
          <a:xfrm>
            <a:off x="705327" y="4480004"/>
            <a:ext cx="5642610" cy="366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75" tIns="46725" rIns="93475" bIns="46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57" name="Google Shape;15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63638"/>
            <a:ext cx="5586413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 txBox="1">
            <a:spLocks noGrp="1"/>
          </p:cNvSpPr>
          <p:nvPr>
            <p:ph type="body" idx="1"/>
          </p:nvPr>
        </p:nvSpPr>
        <p:spPr>
          <a:xfrm>
            <a:off x="705327" y="4480004"/>
            <a:ext cx="5642610" cy="366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75" tIns="46725" rIns="93475" bIns="46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66" name="Google Shape;16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63638"/>
            <a:ext cx="5586413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 txBox="1">
            <a:spLocks noGrp="1"/>
          </p:cNvSpPr>
          <p:nvPr>
            <p:ph type="body" idx="1"/>
          </p:nvPr>
        </p:nvSpPr>
        <p:spPr>
          <a:xfrm>
            <a:off x="705327" y="4480004"/>
            <a:ext cx="5642610" cy="366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75" tIns="46725" rIns="93475" bIns="46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75" name="Google Shape;17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63638"/>
            <a:ext cx="5586413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matchingName="Title Slid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3" descr="A picture containing sky, outdoor, real estate, architecture&#10;&#10;Description automatically generated"/>
          <p:cNvPicPr preferRelativeResize="0"/>
          <p:nvPr/>
        </p:nvPicPr>
        <p:blipFill rotWithShape="1">
          <a:blip r:embed="rId2">
            <a:alphaModFix amt="50000"/>
          </a:blip>
          <a:srcRect/>
          <a:stretch>
            <a:fillRect/>
          </a:stretch>
        </p:blipFill>
        <p:spPr>
          <a:xfrm>
            <a:off x="256674" y="250189"/>
            <a:ext cx="11678651" cy="635762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 panose="020B0604020202020204"/>
              <a:buNone/>
              <a:defRPr sz="6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EBEC2AF1-DF64-4577-B63A-25761472A38D}" type="datetime3">
              <a:rPr lang="en-US" smtClean="0"/>
            </a:fld>
            <a:endParaRPr lang="en-US" smtClean="0"/>
          </a:p>
        </p:txBody>
      </p:sp>
      <p:sp>
        <p:nvSpPr>
          <p:cNvPr id="20" name="Google Shape;20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21LF02 MINIPROJECT I Review         </a:t>
            </a:r>
            <a:endParaRPr lang="en-IN"/>
          </a:p>
        </p:txBody>
      </p:sp>
      <p:sp>
        <p:nvSpPr>
          <p:cNvPr id="21" name="Google Shape;21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22" name="Google Shape;22;p1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205813" y="500378"/>
            <a:ext cx="5644907" cy="1386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showMasterSp="0" matchingName="Title and Content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  <a:defRPr sz="32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2617934A-94F6-4C5E-B0A9-D7BEDC10F71B}" type="datetime3">
              <a:rPr lang="en-US" smtClean="0"/>
            </a:fld>
            <a:endParaRPr lang="en-US" smtClean="0"/>
          </a:p>
        </p:txBody>
      </p:sp>
      <p:sp>
        <p:nvSpPr>
          <p:cNvPr id="27" name="Google Shape;27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21LF02 MINIPROJECT I Review         </a:t>
            </a:r>
            <a:endParaRPr lang="en-IN"/>
          </a:p>
        </p:txBody>
      </p:sp>
      <p:sp>
        <p:nvSpPr>
          <p:cNvPr id="28" name="Google Shape;28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matchingName="Section Header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 panose="020B0604020202020204"/>
              <a:buNone/>
              <a:defRPr sz="6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5E8687F5-25DD-4DD1-9985-988FABB5BD68}" type="datetime3">
              <a:rPr lang="en-US" smtClean="0"/>
            </a:fld>
            <a:endParaRPr lang="en-US" smtClean="0"/>
          </a:p>
        </p:txBody>
      </p:sp>
      <p:sp>
        <p:nvSpPr>
          <p:cNvPr id="33" name="Google Shape;3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21LF02 MINIPROJECT I Review         </a:t>
            </a:r>
            <a:endParaRPr lang="en-IN"/>
          </a:p>
        </p:txBody>
      </p:sp>
      <p:sp>
        <p:nvSpPr>
          <p:cNvPr id="34" name="Google Shape;3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showMasterSp="0" matchingName="Two Content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  <a:defRPr sz="32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124ABFF5-4683-462A-ACBE-5DE189134F40}" type="datetime3">
              <a:rPr lang="en-US" smtClean="0"/>
            </a:fld>
            <a:endParaRPr lang="en-US" smtClean="0"/>
          </a:p>
        </p:txBody>
      </p:sp>
      <p:sp>
        <p:nvSpPr>
          <p:cNvPr id="40" name="Google Shape;40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21LF02 MINIPROJECT I Review         </a:t>
            </a:r>
            <a:endParaRPr lang="en-IN"/>
          </a:p>
        </p:txBody>
      </p:sp>
      <p:sp>
        <p:nvSpPr>
          <p:cNvPr id="41" name="Google Shape;4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showMasterSp="0" matchingName="Comparison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  <a:defRPr sz="32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1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7" name="Google Shape;47;p1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F5520D3E-185A-4CE4-A9AF-0E6C047B412F}" type="datetime3">
              <a:rPr lang="en-US" smtClean="0"/>
            </a:fld>
            <a:endParaRPr lang="en-US" smtClean="0"/>
          </a:p>
        </p:txBody>
      </p:sp>
      <p:sp>
        <p:nvSpPr>
          <p:cNvPr id="49" name="Google Shape;4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21LF02 MINIPROJECT I Review         </a:t>
            </a:r>
            <a:endParaRPr lang="en-IN"/>
          </a:p>
        </p:txBody>
      </p:sp>
      <p:sp>
        <p:nvSpPr>
          <p:cNvPr id="50" name="Google Shape;5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showMasterSp="0" matchingName="Title 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  <a:defRPr sz="32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1218CE1D-CE2A-4EC3-B903-C469E35BE3A0}" type="datetime3">
              <a:rPr lang="en-US" smtClean="0"/>
            </a:fld>
            <a:endParaRPr lang="en-US" smtClean="0"/>
          </a:p>
        </p:txBody>
      </p:sp>
      <p:sp>
        <p:nvSpPr>
          <p:cNvPr id="54" name="Google Shape;54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21LF02 MINIPROJECT I Review         </a:t>
            </a:r>
            <a:endParaRPr lang="en-IN"/>
          </a:p>
        </p:txBody>
      </p:sp>
      <p:sp>
        <p:nvSpPr>
          <p:cNvPr id="55" name="Google Shape;55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 matchingNam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7DBE6DBB-C259-441A-B1D8-754CB3F2B48F}" type="datetime3">
              <a:rPr lang="en-US" smtClean="0"/>
            </a:fld>
            <a:endParaRPr lang="en-US" smtClean="0"/>
          </a:p>
        </p:txBody>
      </p:sp>
      <p:sp>
        <p:nvSpPr>
          <p:cNvPr id="58" name="Google Shape;5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21LF02 MINIPROJECT I Review         </a:t>
            </a:r>
            <a:endParaRPr lang="en-IN"/>
          </a:p>
        </p:txBody>
      </p:sp>
      <p:sp>
        <p:nvSpPr>
          <p:cNvPr id="59" name="Google Shape;5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showMasterSp="0" matchingName="Content with Caption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  <a:defRPr sz="32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F0F53CDD-DC8E-4BA7-ADE6-4764BE57547E}" type="datetime3">
              <a:rPr lang="en-US" smtClean="0"/>
            </a:fld>
            <a:endParaRPr lang="en-US" smtClean="0"/>
          </a:p>
        </p:txBody>
      </p:sp>
      <p:sp>
        <p:nvSpPr>
          <p:cNvPr id="65" name="Google Shape;65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21LF02 MINIPROJECT I Review         </a:t>
            </a:r>
            <a:endParaRPr lang="en-IN"/>
          </a:p>
        </p:txBody>
      </p:sp>
      <p:sp>
        <p:nvSpPr>
          <p:cNvPr id="66" name="Google Shape;66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showMasterSp="0" matchingName="Picture with Caption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  <a:defRPr sz="32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55A85D23-A9D4-4B41-BB51-DE7A1F71B4B3}" type="datetime3">
              <a:rPr lang="en-US" smtClean="0"/>
            </a:fld>
            <a:endParaRPr lang="en-US" smtClean="0"/>
          </a:p>
        </p:txBody>
      </p:sp>
      <p:sp>
        <p:nvSpPr>
          <p:cNvPr id="72" name="Google Shape;7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21LF02 MINIPROJECT I Review         </a:t>
            </a:r>
            <a:endParaRPr lang="en-IN"/>
          </a:p>
        </p:txBody>
      </p:sp>
      <p:sp>
        <p:nvSpPr>
          <p:cNvPr id="73" name="Google Shape;7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showMasterSp="0" matchingName="Title and Vertical Text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 panose="020B0604020202020204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35B6DF25-315F-4DB6-A3FC-6A024AD8852A}" type="datetime3">
              <a:rPr lang="en-US" smtClean="0"/>
            </a:fld>
            <a:endParaRPr lang="en-US" smtClean="0"/>
          </a:p>
        </p:txBody>
      </p:sp>
      <p:sp>
        <p:nvSpPr>
          <p:cNvPr id="78" name="Google Shape;7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21LF02 MINIPROJECT I Review         </a:t>
            </a:r>
            <a:endParaRPr lang="en-IN"/>
          </a:p>
        </p:txBody>
      </p:sp>
      <p:sp>
        <p:nvSpPr>
          <p:cNvPr id="79" name="Google Shape;7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showMasterSp="0" matchingName="Vertical Title and Text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 panose="020B0604020202020204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06B1E11-7E83-458E-A5B2-D79A16FEFFA9}" type="datetime3">
              <a:rPr lang="en-US" smtClean="0"/>
            </a:fld>
            <a:endParaRPr lang="en-US" smtClean="0"/>
          </a:p>
        </p:txBody>
      </p:sp>
      <p:sp>
        <p:nvSpPr>
          <p:cNvPr id="84" name="Google Shape;84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21LF02 MINIPROJECT I Review         </a:t>
            </a:r>
            <a:endParaRPr lang="en-IN"/>
          </a:p>
        </p:txBody>
      </p:sp>
      <p:sp>
        <p:nvSpPr>
          <p:cNvPr id="85" name="Google Shape;85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86" name="Google Shape;86;p2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9001" y="466512"/>
            <a:ext cx="2125133" cy="522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4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fld id="{196337B4-9911-46D9-952D-37063A81FF56}" type="datetime3">
              <a:rPr lang="en-US" smtClean="0"/>
            </a:fld>
            <a:endParaRPr lang="en-US" smtClean="0"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r>
              <a:rPr lang="en-IN"/>
              <a:t>21LF02 MINIPROJECT I Review         </a:t>
            </a:r>
            <a:endParaRPr lang="en-IN"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/>
          <p:nvPr/>
        </p:nvSpPr>
        <p:spPr>
          <a:xfrm>
            <a:off x="150552" y="1938934"/>
            <a:ext cx="12041448" cy="307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000"/>
              <a:buFont typeface="Times New Roman" panose="02020603050405020304"/>
              <a:buNone/>
            </a:pPr>
            <a:r>
              <a:rPr lang="en-US" sz="3000" b="1" i="0" u="none" strike="noStrike" cap="none" dirty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Electronics &amp; Communication Engineering</a:t>
            </a:r>
            <a:endParaRPr sz="1400" b="0" i="0" u="none" strike="noStrike" cap="none" dirty="0">
              <a:solidFill>
                <a:srgbClr val="C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 panose="020F0502020204030204"/>
              <a:buNone/>
            </a:pPr>
            <a:endParaRPr sz="3000" b="1" i="0" u="none" strike="noStrike" cap="none" dirty="0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 panose="020B0604020202020204"/>
              <a:buNone/>
            </a:pPr>
            <a:r>
              <a:rPr lang="en-US" sz="3600" b="1" i="0" u="none" strike="noStrike" cap="none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23EXC409 MINIPROJECT I</a:t>
            </a:r>
            <a:endParaRPr lang="en-US" sz="3600" b="1" i="0" u="none" strike="noStrike" cap="none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 panose="020F0502020204030204"/>
              <a:buNone/>
            </a:pPr>
            <a:endParaRPr sz="3600" b="1" i="0" u="none" strike="noStrike" cap="none" dirty="0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000"/>
              <a:buFont typeface="Times New Roman" panose="02020603050405020304"/>
              <a:buNone/>
            </a:pPr>
            <a:r>
              <a:rPr lang="en-US" sz="3000" b="1" i="0" u="none" strike="noStrike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ACADEMIC YEAR: 2025 - 202</a:t>
            </a: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6</a:t>
            </a:r>
            <a:r>
              <a:rPr lang="en-US" sz="3000" b="1" i="0" u="none" strike="noStrike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(ODD)</a:t>
            </a:r>
            <a:endParaRPr lang="en-US" sz="3000" b="1" dirty="0">
              <a:solidFill>
                <a:schemeClr val="accent1">
                  <a:lumMod val="50000"/>
                </a:schemeClr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000"/>
              <a:buFont typeface="Times New Roman" panose="02020603050405020304"/>
              <a:buNone/>
            </a:pPr>
            <a:r>
              <a:rPr lang="en-US" sz="3200" b="1" dirty="0">
                <a:solidFill>
                  <a:srgbClr val="0A149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SMART DESK</a:t>
            </a:r>
            <a:endParaRPr sz="3200" b="1" i="0" u="none" strike="noStrike" cap="none" dirty="0">
              <a:solidFill>
                <a:srgbClr val="0A149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08078" y="5936775"/>
            <a:ext cx="24156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29/10/2025</a:t>
            </a:r>
            <a:endParaRPr lang="en-IN" sz="28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6714699" y="5523997"/>
            <a:ext cx="47767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Year / Semester: III / V</a:t>
            </a:r>
            <a:endParaRPr lang="en-IN"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6714699" y="5955600"/>
            <a:ext cx="45333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Branch / Section: EC / B</a:t>
            </a:r>
            <a:endParaRPr lang="en-IN" sz="2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EDBD12F4-CA5D-40C4-931F-5BD8BE7CE35D}" type="datetime3">
              <a:rPr lang="en-US" smtClean="0"/>
            </a:fld>
            <a:endParaRPr lang="en-US" smtClean="0"/>
          </a:p>
        </p:txBody>
      </p:sp>
      <p:sp>
        <p:nvSpPr>
          <p:cNvPr id="97" name="Google Shape;97;p2"/>
          <p:cNvSpPr txBox="1">
            <a:spLocks noGrp="1"/>
          </p:cNvSpPr>
          <p:nvPr>
            <p:ph type="ftr" idx="11"/>
          </p:nvPr>
        </p:nvSpPr>
        <p:spPr>
          <a:xfrm>
            <a:off x="3679785" y="629847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21LF02 MINIPROJECT I Review         </a:t>
            </a:r>
            <a:endParaRPr dirty="0"/>
          </a:p>
        </p:txBody>
      </p:sp>
      <p:sp>
        <p:nvSpPr>
          <p:cNvPr id="98" name="Google Shape;98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99" name="Google Shape;99;p2"/>
          <p:cNvSpPr txBox="1"/>
          <p:nvPr/>
        </p:nvSpPr>
        <p:spPr>
          <a:xfrm>
            <a:off x="367874" y="47625"/>
            <a:ext cx="769390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Times New Roman" panose="02020603050405020304"/>
              <a:buNone/>
            </a:pPr>
            <a:r>
              <a:rPr lang="en-US" sz="3200" b="1" i="0" u="none" strike="noStrike" cap="none" dirty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Group Details</a:t>
            </a:r>
            <a:endParaRPr sz="3200" b="0" i="0" u="none" strike="noStrike" cap="none" dirty="0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871833" y="1695186"/>
            <a:ext cx="10583459" cy="3676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endParaRPr sz="2400" b="1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indent="-457200">
              <a:lnSpc>
                <a:spcPct val="200000"/>
              </a:lnSpc>
              <a:buClr>
                <a:schemeClr val="dk1"/>
              </a:buClr>
              <a:buSzPts val="2400"/>
              <a:buFont typeface="+mj-lt"/>
              <a:buAutoNum type="arabicPeriod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Name: AKAASH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Z  M                                            Roll No : 717823L203</a:t>
            </a:r>
            <a:endParaRPr lang="en-US" sz="24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indent="-457200">
              <a:lnSpc>
                <a:spcPct val="200000"/>
              </a:lnSpc>
              <a:buClr>
                <a:schemeClr val="dk1"/>
              </a:buClr>
              <a:buSzPts val="2400"/>
              <a:buFont typeface="+mj-lt"/>
              <a:buAutoNum type="arabicPeriod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Name: ASWIN A                                                   Roll No : 717823L206</a:t>
            </a:r>
            <a:endParaRPr lang="en-US" sz="24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indent="-457200">
              <a:lnSpc>
                <a:spcPct val="200000"/>
              </a:lnSpc>
              <a:buClr>
                <a:schemeClr val="dk1"/>
              </a:buClr>
              <a:buSzPts val="2400"/>
              <a:buFont typeface="+mj-lt"/>
              <a:buAutoNum type="arabicPeriod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Name: GUNA M                                                    Roll No : 717823L217</a:t>
            </a:r>
            <a:endParaRPr lang="en-US" sz="24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indent="-457200">
              <a:lnSpc>
                <a:spcPct val="200000"/>
              </a:lnSpc>
              <a:buClr>
                <a:schemeClr val="dk1"/>
              </a:buClr>
              <a:buSzPts val="2400"/>
              <a:buFont typeface="+mj-lt"/>
              <a:buAutoNum type="arabicPeriod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Name: RUBAN M                                                 Roll No : 717823L246                                               </a:t>
            </a:r>
            <a:endParaRPr lang="en-US" sz="24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indent="-457200">
              <a:lnSpc>
                <a:spcPct val="200000"/>
              </a:lnSpc>
              <a:buClr>
                <a:schemeClr val="dk1"/>
              </a:buClr>
              <a:buSzPts val="2400"/>
              <a:buFont typeface="+mj-lt"/>
              <a:buAutoNum type="arabicPeriod"/>
            </a:pPr>
            <a:endParaRPr lang="en-US" sz="24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>
            <a:spLocks noGrp="1"/>
          </p:cNvSpPr>
          <p:nvPr>
            <p:ph type="title"/>
          </p:nvPr>
        </p:nvSpPr>
        <p:spPr>
          <a:xfrm>
            <a:off x="253410" y="37575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Times New Roman" panose="02020603050405020304"/>
              <a:buNone/>
            </a:pPr>
            <a:r>
              <a:rPr lang="en-US" sz="2800" dirty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ABSTRACT</a:t>
            </a:r>
            <a:endParaRPr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6" name="Google Shape;106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C8269DF1-C597-48E1-A44C-7D2455D3127A}" type="datetime3">
              <a:rPr lang="en-US" smtClean="0"/>
            </a:fld>
            <a:endParaRPr dirty="0"/>
          </a:p>
        </p:txBody>
      </p:sp>
      <p:sp>
        <p:nvSpPr>
          <p:cNvPr id="107" name="Google Shape;107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21LF02 MINIPROJECT I Review         </a:t>
            </a:r>
            <a:endParaRPr lang="en-US"/>
          </a:p>
        </p:txBody>
      </p:sp>
      <p:sp>
        <p:nvSpPr>
          <p:cNvPr id="108" name="Google Shape;108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140" y="1360967"/>
            <a:ext cx="10854069" cy="4869712"/>
          </a:xfrm>
        </p:spPr>
        <p:txBody>
          <a:bodyPr>
            <a:normAutofit/>
          </a:bodyPr>
          <a:lstStyle/>
          <a:p>
            <a:pPr marL="50800" indent="0" algn="just">
              <a:buNone/>
            </a:pPr>
            <a:r>
              <a:rPr lang="en-US" sz="2000" dirty="0"/>
              <a:t>	The </a:t>
            </a:r>
            <a:r>
              <a:rPr lang="en-US" sz="2000" b="1" dirty="0"/>
              <a:t>Smart Desk for Students</a:t>
            </a:r>
            <a:r>
              <a:rPr lang="en-US" sz="2000" dirty="0"/>
              <a:t> is an innovative solution designed to enhance learning efficiency, comfort, and organization in modern educational environments. This project integrates technology with traditional furniture to create an interactive and intelligent workspace for students. </a:t>
            </a:r>
            <a:endParaRPr lang="en-US" sz="2000" dirty="0"/>
          </a:p>
          <a:p>
            <a:pPr marL="50800" indent="0" algn="just">
              <a:buNone/>
            </a:pPr>
            <a:r>
              <a:rPr lang="en-US" sz="2000" dirty="0"/>
              <a:t>	The desk features components such as an </a:t>
            </a:r>
            <a:r>
              <a:rPr lang="en-US" sz="2000" b="1" dirty="0"/>
              <a:t>automatic lighting system</a:t>
            </a:r>
            <a:r>
              <a:rPr lang="en-US" sz="2000" dirty="0"/>
              <a:t> using LDR and IR sensors, a </a:t>
            </a:r>
            <a:r>
              <a:rPr lang="en-US" sz="2000" b="1" dirty="0"/>
              <a:t>mobile charging station</a:t>
            </a:r>
            <a:r>
              <a:rPr lang="en-US" sz="2000" dirty="0"/>
              <a:t>, </a:t>
            </a:r>
            <a:r>
              <a:rPr lang="en-US" sz="2000" b="1" dirty="0"/>
              <a:t>integrated Bluetooth speaker</a:t>
            </a:r>
            <a:r>
              <a:rPr lang="en-US" sz="2000" dirty="0"/>
              <a:t>, and </a:t>
            </a:r>
            <a:r>
              <a:rPr lang="en-US" sz="2000" b="1" dirty="0"/>
              <a:t>temperature/humidity monitoring</a:t>
            </a:r>
            <a:r>
              <a:rPr lang="en-US" sz="2000" dirty="0"/>
              <a:t> for a comfortable study atmosphere. It can also include features like a </a:t>
            </a:r>
            <a:r>
              <a:rPr lang="en-US" sz="2000" b="1" dirty="0"/>
              <a:t>reminder or study timer system</a:t>
            </a:r>
            <a:r>
              <a:rPr lang="en-US" sz="2000" dirty="0"/>
              <a:t> using an Arduino microcontroller and display unit. </a:t>
            </a:r>
            <a:endParaRPr lang="en-US" sz="2000" dirty="0"/>
          </a:p>
          <a:p>
            <a:pPr marL="50800" indent="0" algn="just">
              <a:buNone/>
            </a:pPr>
            <a:r>
              <a:rPr lang="en-US" sz="2000" dirty="0"/>
              <a:t>	By combining automation, ergonomics, and IoT-based smart features, the Smart Desk minimizes distractions, improves focus, and encourages a more productive study routine. This project demonstrates how simple electronics and microcontroller-based automation can transform conventional study setups into intelligent, student-friendly systems suitable for both classrooms and home study environments.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 txBox="1">
            <a:spLocks noGrp="1"/>
          </p:cNvSpPr>
          <p:nvPr>
            <p:ph type="title"/>
          </p:nvPr>
        </p:nvSpPr>
        <p:spPr>
          <a:xfrm>
            <a:off x="210879" y="39039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 panose="02020603050405020304"/>
              <a:buNone/>
            </a:pPr>
            <a:r>
              <a:rPr lang="en-US" sz="2400" dirty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BLOCK DIAGRAM</a:t>
            </a:r>
            <a:endParaRPr dirty="0"/>
          </a:p>
        </p:txBody>
      </p:sp>
      <p:sp>
        <p:nvSpPr>
          <p:cNvPr id="133" name="Google Shape;133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DAFED14D-9CBF-4B04-B659-8851CC4104EE}" type="datetime3">
              <a:rPr lang="en-US" smtClean="0"/>
            </a:fld>
            <a:endParaRPr lang="en-US" smtClean="0"/>
          </a:p>
        </p:txBody>
      </p:sp>
      <p:sp>
        <p:nvSpPr>
          <p:cNvPr id="134" name="Google Shape;134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21LF02 MINIPROJECT I Review         </a:t>
            </a:r>
            <a:endParaRPr lang="en-US"/>
          </a:p>
        </p:txBody>
      </p:sp>
      <p:sp>
        <p:nvSpPr>
          <p:cNvPr id="135" name="Google Shape;13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36" name="Google Shape;136;p6"/>
          <p:cNvSpPr txBox="1">
            <a:spLocks noGrp="1"/>
          </p:cNvSpPr>
          <p:nvPr>
            <p:ph type="body" idx="1"/>
          </p:nvPr>
        </p:nvSpPr>
        <p:spPr>
          <a:xfrm>
            <a:off x="466061" y="1265274"/>
            <a:ext cx="10515600" cy="5091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2" name="Picture 1" descr="embedded_smart_desk_block_dia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6485" y="1894840"/>
            <a:ext cx="7019925" cy="38315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CIRCUIT DIAGRAM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50800" indent="0">
              <a:buNone/>
            </a:pP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2617934A-94F6-4C5E-B0A9-D7BEDC10F71B}" type="datetime3">
              <a:rPr lang="en-US" smtClean="0"/>
            </a:fld>
            <a:endParaRPr 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rPr lang="en-IN"/>
              <a:t>21LF02 MINIPROJECT I Review         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7" name="Picture 6" descr="embedded_smart_desk_circuit_dia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7065" y="1530350"/>
            <a:ext cx="7266305" cy="45300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 txBox="1">
            <a:spLocks noGrp="1"/>
          </p:cNvSpPr>
          <p:nvPr>
            <p:ph type="title"/>
          </p:nvPr>
        </p:nvSpPr>
        <p:spPr>
          <a:xfrm>
            <a:off x="191386" y="365125"/>
            <a:ext cx="1116241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 panose="02020603050405020304"/>
              <a:buNone/>
            </a:pPr>
            <a:r>
              <a:rPr lang="en-US" sz="2400" dirty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COMPOENTS DETAILS</a:t>
            </a:r>
            <a:endParaRPr lang="en-US" dirty="0"/>
          </a:p>
        </p:txBody>
      </p:sp>
      <p:sp>
        <p:nvSpPr>
          <p:cNvPr id="136" name="Google Shape;136;p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IN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IN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133" name="Google Shape;133;p6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ADEA8085-C93B-44BA-AE90-6926EF3CFB04}" type="datetime3">
              <a:rPr lang="en-US" smtClean="0"/>
            </a:fld>
            <a:endParaRPr lang="en-US" smtClean="0"/>
          </a:p>
        </p:txBody>
      </p:sp>
      <p:sp>
        <p:nvSpPr>
          <p:cNvPr id="134" name="Google Shape;134;p6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21LF02 MINIPROJECT I Review         </a:t>
            </a:r>
            <a:endParaRPr lang="en-US"/>
          </a:p>
        </p:txBody>
      </p:sp>
      <p:sp>
        <p:nvSpPr>
          <p:cNvPr id="135" name="Google Shape;135;p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3" name="Rectangle 1"/>
          <p:cNvSpPr>
            <a:spLocks noGrp="1" noChangeArrowheads="1"/>
          </p:cNvSpPr>
          <p:nvPr>
            <p:ph type="body" idx="2"/>
          </p:nvPr>
        </p:nvSpPr>
        <p:spPr bwMode="auto">
          <a:xfrm>
            <a:off x="542925" y="1940195"/>
            <a:ext cx="8659743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Arduino (main controller)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LDR/IR sensor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 automatic light control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Temperature/Humidity sensor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 environment monitoring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GSM module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 message alerts or communication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LCD display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 showing data/status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LED light/fan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controlled by Arduino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supply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 the whole system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Desk Lamp</a:t>
            </a:r>
            <a:endParaRPr lang="en-US" altLang="en-US" sz="24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Relay Module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Buzzer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 txBox="1">
            <a:spLocks noGrp="1"/>
          </p:cNvSpPr>
          <p:nvPr>
            <p:ph type="title"/>
          </p:nvPr>
        </p:nvSpPr>
        <p:spPr>
          <a:xfrm>
            <a:off x="191386" y="365125"/>
            <a:ext cx="1116241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 panose="02020603050405020304"/>
              <a:buNone/>
            </a:pPr>
            <a:r>
              <a:rPr lang="en-US" sz="240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ABOUT THE PROJECT(Operation/Working)</a:t>
            </a:r>
            <a:endParaRPr lang="en-US" dirty="0"/>
          </a:p>
        </p:txBody>
      </p:sp>
      <p:sp>
        <p:nvSpPr>
          <p:cNvPr id="136" name="Google Shape;136;p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IN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IN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2"/>
          </p:nvPr>
        </p:nvSpPr>
        <p:spPr>
          <a:xfrm>
            <a:off x="542260" y="1488558"/>
            <a:ext cx="10811540" cy="468840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Smart Desk for Students operates on the principle of </a:t>
            </a:r>
            <a:r>
              <a:rPr lang="en-US" b="1" dirty="0"/>
              <a:t>sensor-based automation</a:t>
            </a:r>
            <a:r>
              <a:rPr lang="en-US" dirty="0"/>
              <a:t> controlled by a </a:t>
            </a:r>
            <a:r>
              <a:rPr lang="en-US" b="1" dirty="0"/>
              <a:t>microcontroller (Arduino)</a:t>
            </a:r>
            <a:r>
              <a:rPr lang="en-US" dirty="0"/>
              <a:t>.</a:t>
            </a:r>
            <a:endParaRPr lang="en-US" dirty="0"/>
          </a:p>
          <a:p>
            <a:r>
              <a:rPr lang="en-US" dirty="0"/>
              <a:t>The LDR/IR sensor detects ambient light levels and automatically turns the desk lamp ON or OFF to ensure proper lighting. </a:t>
            </a:r>
            <a:endParaRPr lang="en-US" dirty="0"/>
          </a:p>
          <a:p>
            <a:r>
              <a:rPr lang="en-US" dirty="0"/>
              <a:t>The temperature and humidity sensor continuously monitors the surrounding environment and displays the readings on an LCD screen for user awareness.</a:t>
            </a:r>
            <a:endParaRPr lang="en-US" dirty="0"/>
          </a:p>
          <a:p>
            <a:r>
              <a:rPr lang="en-US" dirty="0"/>
              <a:t>The GSM module enables message alerts or remote updates regarding desk status or environmental conditions. </a:t>
            </a:r>
            <a:endParaRPr lang="en-US" dirty="0"/>
          </a:p>
          <a:p>
            <a:r>
              <a:rPr lang="en-US" dirty="0"/>
              <a:t>All components are powered through a regulated power supply, and the Arduino processes sensor inputs to control output devices such as lights, fans, or indicators.</a:t>
            </a:r>
            <a:endParaRPr lang="en-US" dirty="0"/>
          </a:p>
          <a:p>
            <a:r>
              <a:rPr lang="en-US" dirty="0"/>
              <a:t>This automation enhances convenience, saves energy, and provides a smart, comfortable workspace for students.</a:t>
            </a:r>
            <a:endParaRPr lang="en-US" dirty="0"/>
          </a:p>
          <a:p>
            <a:pPr marL="5080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Google Shape;133;p6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9AAE4A8A-DDE1-4584-9C2D-3E5E3BE69952}" type="datetime3">
              <a:rPr lang="en-US" smtClean="0"/>
            </a:fld>
            <a:endParaRPr lang="en-US" smtClean="0"/>
          </a:p>
        </p:txBody>
      </p:sp>
      <p:sp>
        <p:nvSpPr>
          <p:cNvPr id="134" name="Google Shape;134;p6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21LF02 MINIPROJECT I Review         </a:t>
            </a:r>
            <a:endParaRPr lang="en-US"/>
          </a:p>
        </p:txBody>
      </p:sp>
      <p:sp>
        <p:nvSpPr>
          <p:cNvPr id="135" name="Google Shape;135;p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 txBox="1">
            <a:spLocks noGrp="1"/>
          </p:cNvSpPr>
          <p:nvPr>
            <p:ph type="title"/>
          </p:nvPr>
        </p:nvSpPr>
        <p:spPr>
          <a:xfrm>
            <a:off x="191386" y="365125"/>
            <a:ext cx="1116241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 panose="02020603050405020304"/>
              <a:buNone/>
            </a:pPr>
            <a:r>
              <a:rPr lang="en-US" sz="240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PHOTOS / VIDEOS OF  THE PROJECT PROTOTYPE</a:t>
            </a:r>
            <a:endParaRPr lang="en-US" dirty="0"/>
          </a:p>
        </p:txBody>
      </p:sp>
      <p:sp>
        <p:nvSpPr>
          <p:cNvPr id="136" name="Google Shape;136;p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IN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IN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2"/>
          </p:nvPr>
        </p:nvSpPr>
        <p:spPr>
          <a:xfrm>
            <a:off x="542260" y="1488558"/>
            <a:ext cx="10811540" cy="4688405"/>
          </a:xfrm>
        </p:spPr>
        <p:txBody>
          <a:bodyPr/>
          <a:lstStyle/>
          <a:p>
            <a:pPr marL="5080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Google Shape;133;p6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BF4693DB-E16B-4AA5-AD3F-BFB1946F5B7E}" type="datetime3">
              <a:rPr lang="en-US" smtClean="0"/>
            </a:fld>
            <a:endParaRPr lang="en-US" smtClean="0"/>
          </a:p>
        </p:txBody>
      </p:sp>
      <p:sp>
        <p:nvSpPr>
          <p:cNvPr id="134" name="Google Shape;134;p6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21LF02 MINIPROJECT I Review         </a:t>
            </a:r>
            <a:endParaRPr lang="en-US"/>
          </a:p>
        </p:txBody>
      </p:sp>
      <p:sp>
        <p:nvSpPr>
          <p:cNvPr id="135" name="Google Shape;135;p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3" name="Picture 2" descr="WhatsApp Image 2025-10-29 at 09.22.26_c31a9b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5165" y="1825625"/>
            <a:ext cx="7350125" cy="40290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 txBox="1">
            <a:spLocks noGrp="1"/>
          </p:cNvSpPr>
          <p:nvPr>
            <p:ph type="title"/>
          </p:nvPr>
        </p:nvSpPr>
        <p:spPr>
          <a:xfrm>
            <a:off x="394855" y="26814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 panose="02020603050405020304"/>
              <a:buNone/>
            </a:pPr>
            <a:r>
              <a:rPr lang="en-US" sz="240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CONCLUSION</a:t>
            </a:r>
            <a:endParaRPr lang="en-US" sz="2400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0" name="Google Shape;16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FB3CB6AD-3EA8-492B-BBD6-CC8A791365D8}" type="datetime3">
              <a:rPr lang="en-US" smtClean="0"/>
            </a:fld>
            <a:endParaRPr lang="en-US" smtClean="0"/>
          </a:p>
        </p:txBody>
      </p:sp>
      <p:sp>
        <p:nvSpPr>
          <p:cNvPr id="161" name="Google Shape;16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21LF02 MINIPROJECT I Review         </a:t>
            </a:r>
            <a:endParaRPr lang="en-US"/>
          </a:p>
        </p:txBody>
      </p:sp>
      <p:sp>
        <p:nvSpPr>
          <p:cNvPr id="162" name="Google Shape;16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63" name="Google Shape;163;p9"/>
          <p:cNvSpPr txBox="1">
            <a:spLocks noGrp="1"/>
          </p:cNvSpPr>
          <p:nvPr>
            <p:ph type="body" idx="1"/>
          </p:nvPr>
        </p:nvSpPr>
        <p:spPr>
          <a:xfrm>
            <a:off x="394855" y="1841684"/>
            <a:ext cx="10958945" cy="4879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just">
              <a:spcBef>
                <a:spcPts val="0"/>
              </a:spcBef>
              <a:buSzPts val="2000"/>
            </a:pPr>
            <a:r>
              <a:rPr lang="en-US" sz="2400" dirty="0"/>
              <a:t>The Smart Desk for Students successfully integrates automation and smart technology to create a modern, efficient, and student-friendly workspace. </a:t>
            </a:r>
            <a:endParaRPr lang="en-US" sz="2400" dirty="0"/>
          </a:p>
          <a:p>
            <a:pPr marL="342900" indent="-342900" algn="just">
              <a:spcBef>
                <a:spcPts val="0"/>
              </a:spcBef>
              <a:buSzPts val="2000"/>
            </a:pPr>
            <a:r>
              <a:rPr lang="en-US" sz="2400" dirty="0"/>
              <a:t>By combining sensors, a microcontroller, and communication modules, the system provides automatic lighting control, environmental monitoring, and remote alert features. </a:t>
            </a:r>
            <a:endParaRPr lang="en-US" sz="2400" dirty="0"/>
          </a:p>
          <a:p>
            <a:pPr marL="342900" indent="-342900" algn="just">
              <a:spcBef>
                <a:spcPts val="0"/>
              </a:spcBef>
              <a:buSzPts val="2000"/>
            </a:pPr>
            <a:r>
              <a:rPr lang="en-US" sz="2400" dirty="0"/>
              <a:t>This not only improves comfort and productivity but also promotes energy conservation and convenience. </a:t>
            </a:r>
            <a:endParaRPr lang="en-US" sz="2400" dirty="0"/>
          </a:p>
          <a:p>
            <a:pPr marL="342900" indent="-342900" algn="just">
              <a:spcBef>
                <a:spcPts val="0"/>
              </a:spcBef>
              <a:buSzPts val="2000"/>
            </a:pPr>
            <a:r>
              <a:rPr lang="en-US" sz="2400" dirty="0"/>
              <a:t>The project demonstrates how simple electronic components can be combined to design an intelligent system that enhances the learning environment for students in both schools and homes.</a:t>
            </a:r>
            <a:endParaRPr lang="en-US" sz="2400" dirty="0"/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 txBox="1">
            <a:spLocks noGrp="1"/>
          </p:cNvSpPr>
          <p:nvPr>
            <p:ph type="title"/>
          </p:nvPr>
        </p:nvSpPr>
        <p:spPr>
          <a:xfrm>
            <a:off x="394855" y="26814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 panose="02020603050405020304"/>
              <a:buNone/>
            </a:pPr>
            <a:r>
              <a:rPr lang="en-US" sz="2400" dirty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FUTURE SCOPE</a:t>
            </a:r>
            <a:endParaRPr dirty="0"/>
          </a:p>
        </p:txBody>
      </p:sp>
      <p:sp>
        <p:nvSpPr>
          <p:cNvPr id="160" name="Google Shape;16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BEEABFE9-5BA5-4B9E-BCBF-F559C87EC76B}" type="datetime3">
              <a:rPr lang="en-US" smtClean="0"/>
            </a:fld>
            <a:endParaRPr lang="en-US" smtClean="0"/>
          </a:p>
        </p:txBody>
      </p:sp>
      <p:sp>
        <p:nvSpPr>
          <p:cNvPr id="161" name="Google Shape;16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21LF02 MINIPROJECT I Review         </a:t>
            </a:r>
            <a:endParaRPr lang="en-US"/>
          </a:p>
        </p:txBody>
      </p:sp>
      <p:sp>
        <p:nvSpPr>
          <p:cNvPr id="162" name="Google Shape;16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" name="Text Placeholder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1659485"/>
            <a:ext cx="11578811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smart desk can be integrated with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allow remote monitoring and control using a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mobile app or web dashboard.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Addition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voice control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modules like Alexa or Google Assistant for hands-free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operation.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wireless charging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pads for smartphones and wearables.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motion detection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automatically power on/off devices when a student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approaches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 leaves the desk.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AI-based study reminders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time management features to improve focus and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productivity.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logging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tracking environmental conditions and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usage patterns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 txBox="1">
            <a:spLocks noGrp="1"/>
          </p:cNvSpPr>
          <p:nvPr>
            <p:ph type="title"/>
          </p:nvPr>
        </p:nvSpPr>
        <p:spPr>
          <a:xfrm>
            <a:off x="393405" y="365125"/>
            <a:ext cx="1096039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 panose="02020603050405020304"/>
              <a:buNone/>
            </a:pPr>
            <a:r>
              <a:rPr lang="en-US" sz="2400" dirty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REFERENCES</a:t>
            </a:r>
            <a:endParaRPr dirty="0"/>
          </a:p>
        </p:txBody>
      </p:sp>
      <p:sp>
        <p:nvSpPr>
          <p:cNvPr id="169" name="Google Shape;1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5C1C9FF7-3AC3-42BA-B46C-9762EC812B42}" type="datetime3">
              <a:rPr lang="en-US" smtClean="0"/>
            </a:fld>
            <a:endParaRPr lang="en-US" smtClean="0"/>
          </a:p>
        </p:txBody>
      </p:sp>
      <p:sp>
        <p:nvSpPr>
          <p:cNvPr id="170" name="Google Shape;1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21LF02 MINIPROJECT I Review         </a:t>
            </a:r>
            <a:endParaRPr lang="en-US"/>
          </a:p>
        </p:txBody>
      </p:sp>
      <p:sp>
        <p:nvSpPr>
          <p:cNvPr id="171" name="Google Shape;1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0" name="Text Placeholder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311150" y="2142600"/>
            <a:ext cx="11479425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Arduino Official Documentation – </a:t>
            </a:r>
            <a:r>
              <a:rPr kumimoji="0" lang="en-US" altLang="en-US" sz="2000" b="0" i="0" u="sng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https://www.arduino.cc</a:t>
            </a:r>
            <a:endParaRPr kumimoji="0" lang="en-US" altLang="en-US" sz="2000" b="0" i="0" u="sng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GSM Module Interfacing Tutorials – Electronics Hub, Engineers Garage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IoT and Smart Automation Concepts – Research Papers from IEEE Xplore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Sensor Interfacing and Applications – All About Circuits (</a:t>
            </a:r>
            <a:r>
              <a:rPr kumimoji="0" lang="en-US" altLang="en-US" sz="2000" b="0" i="0" u="sng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www.allaboutcircuits.com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Academic Project Reports on Smart Furniture and Home Automation Systems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Instructables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“Smart Desk using Arduino and Sensors” Project  – </a:t>
            </a:r>
            <a:r>
              <a:rPr kumimoji="0" lang="en-US" altLang="en-US" sz="2000" b="0" i="0" u="sng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https://www.instructables.com</a:t>
            </a:r>
            <a:endParaRPr kumimoji="0" lang="en-US" altLang="en-US" sz="2000" b="0" i="0" u="sng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ResearchGate – “IoT-Based Smart Classroom and Study Desk Systems” Publications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Circuit Digest – Tutorials on Arduino-Based Automation Projects – </a:t>
            </a:r>
            <a:r>
              <a:rPr kumimoji="0" lang="en-US" altLang="en-US" sz="2000" b="0" i="0" u="sng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https://circuitdigest.com</a:t>
            </a:r>
            <a:endParaRPr kumimoji="0" lang="en-US" altLang="en-US" sz="2000" b="0" i="0" u="sng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"/>
          <p:cNvSpPr txBox="1">
            <a:spLocks noGrp="1"/>
          </p:cNvSpPr>
          <p:nvPr>
            <p:ph type="body" idx="1"/>
          </p:nvPr>
        </p:nvSpPr>
        <p:spPr>
          <a:xfrm>
            <a:off x="588818" y="2646218"/>
            <a:ext cx="10515600" cy="123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6000" b="1" dirty="0">
              <a:solidFill>
                <a:srgbClr val="C00000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ct val="100000"/>
              <a:buNone/>
            </a:pPr>
            <a:r>
              <a:rPr lang="en-US" sz="6000" b="1" dirty="0">
                <a:solidFill>
                  <a:srgbClr val="C00000"/>
                </a:solidFill>
              </a:rPr>
              <a:t>Thank you</a:t>
            </a:r>
            <a:endParaRPr dirty="0"/>
          </a:p>
        </p:txBody>
      </p:sp>
      <p:sp>
        <p:nvSpPr>
          <p:cNvPr id="178" name="Google Shape;17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32569FB3-DFBB-4CB6-A5CF-BC34009A67A1}" type="datetime3">
              <a:rPr lang="en-US" smtClean="0"/>
            </a:fld>
            <a:endParaRPr lang="en-US" smtClean="0"/>
          </a:p>
        </p:txBody>
      </p:sp>
      <p:sp>
        <p:nvSpPr>
          <p:cNvPr id="179" name="Google Shape;17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21LF02 MINIPROJECT I Review         </a:t>
            </a:r>
            <a:endParaRPr lang="en-US"/>
          </a:p>
        </p:txBody>
      </p:sp>
      <p:sp>
        <p:nvSpPr>
          <p:cNvPr id="180" name="Google Shape;18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5066</Words>
  <Application>WPS Presentation</Application>
  <PresentationFormat>Widescreen</PresentationFormat>
  <Paragraphs>166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SimSun</vt:lpstr>
      <vt:lpstr>Wingdings</vt:lpstr>
      <vt:lpstr>Arial</vt:lpstr>
      <vt:lpstr>Calibri</vt:lpstr>
      <vt:lpstr>Century Gothic</vt:lpstr>
      <vt:lpstr>Times New Roman</vt:lpstr>
      <vt:lpstr>Times New Roman</vt:lpstr>
      <vt:lpstr>Microsoft YaHei</vt:lpstr>
      <vt:lpstr>Arial Unicode MS</vt:lpstr>
      <vt:lpstr>Office Theme</vt:lpstr>
      <vt:lpstr>PowerPoint 演示文稿</vt:lpstr>
      <vt:lpstr>PowerPoint 演示文稿</vt:lpstr>
      <vt:lpstr>ABSTRACT</vt:lpstr>
      <vt:lpstr>BLOCK DIAGRAM</vt:lpstr>
      <vt:lpstr>PowerPoint 演示文稿</vt:lpstr>
      <vt:lpstr>COMPOENTS DETAILS</vt:lpstr>
      <vt:lpstr>ABOUT THE PROJECT(Operation/Working)</vt:lpstr>
      <vt:lpstr>PHOTOS / VIDEOS OF  THE PROJECT PROTOTYPE</vt:lpstr>
      <vt:lpstr>CONCLUSION</vt:lpstr>
      <vt:lpstr>FUTURE SCOPE</vt:lpstr>
      <vt:lpstr>REFERENCES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JAYADEVANNM</dc:creator>
  <cp:lastModifiedBy>Akaashz Muniaselvam</cp:lastModifiedBy>
  <cp:revision>33</cp:revision>
  <dcterms:created xsi:type="dcterms:W3CDTF">2023-05-18T12:21:00Z</dcterms:created>
  <dcterms:modified xsi:type="dcterms:W3CDTF">2025-10-29T04:04:06Z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79BB9C420A57404EB4B7FC68DD1E5161_12</vt:lpwstr>
  </property>
  <property fmtid="{D5CDD505-2E9C-101B-9397-08002B2CF9AE}" pid="3" name="KSOProductBuildVer">
    <vt:lpwstr>1033-12.2.0.23131</vt:lpwstr>
  </property>
</Properties>
</file>